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9" r:id="rId3"/>
    <p:sldId id="260" r:id="rId4"/>
    <p:sldId id="261" r:id="rId5"/>
    <p:sldId id="262" r:id="rId6"/>
    <p:sldId id="268" r:id="rId7"/>
    <p:sldId id="273" r:id="rId8"/>
    <p:sldId id="274" r:id="rId9"/>
    <p:sldId id="269" r:id="rId10"/>
    <p:sldId id="270" r:id="rId11"/>
    <p:sldId id="271" r:id="rId12"/>
    <p:sldId id="272" r:id="rId13"/>
    <p:sldId id="275"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1A8EE0-A2EC-4418-A4EC-2B76E94ECE3F}" v="53" dt="2026-02-04T04:29:29.517"/>
    <p1510:client id="{E9DC3684-F456-44F7-82A8-34089680A610}" v="261" dt="2026-02-04T04:10:45.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0" autoAdjust="0"/>
    <p:restoredTop sz="94660"/>
  </p:normalViewPr>
  <p:slideViewPr>
    <p:cSldViewPr snapToGrid="0">
      <p:cViewPr>
        <p:scale>
          <a:sx n="46" d="100"/>
          <a:sy n="46" d="100"/>
        </p:scale>
        <p:origin x="130"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9858656-E316-467B-9457-F86624F2DAE4}"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9858656-E316-467B-9457-F86624F2DAE4}"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858656-E316-467B-9457-F86624F2DAE4}"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9858656-E316-467B-9457-F86624F2DAE4}"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9858656-E316-467B-9457-F86624F2DAE4}"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9858656-E316-467B-9457-F86624F2DAE4}"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858656-E316-467B-9457-F86624F2DAE4}"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858656-E316-467B-9457-F86624F2DAE4}"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858656-E316-467B-9457-F86624F2DAE4}"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9858656-E316-467B-9457-F86624F2DAE4}"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9858656-E316-467B-9457-F86624F2DAE4}"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D9C85C-770C-4893-B810-15E39164D0F0}"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alpha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58656-E316-467B-9457-F86624F2DAE4}" type="datetimeFigureOut">
              <a:rPr lang="en-IN" smtClean="0"/>
              <a:t>03-02-2026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D9C85C-770C-4893-B810-15E39164D0F0}"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alpha val="0"/>
          </a:schemeClr>
        </a:solidFill>
        <a:effectLst/>
      </p:bgPr>
    </p:bg>
    <p:spTree>
      <p:nvGrpSpPr>
        <p:cNvPr id="1" name=""/>
        <p:cNvGrpSpPr/>
        <p:nvPr/>
      </p:nvGrpSpPr>
      <p:grpSpPr>
        <a:xfrm>
          <a:off x="0" y="0"/>
          <a:ext cx="0" cy="0"/>
          <a:chOff x="0" y="0"/>
          <a:chExt cx="0" cy="0"/>
        </a:xfrm>
      </p:grpSpPr>
      <p:sp>
        <p:nvSpPr>
          <p:cNvPr id="24" name="Subtitle 2">
            <a:extLst>
              <a:ext uri="{FF2B5EF4-FFF2-40B4-BE49-F238E27FC236}">
                <a16:creationId xmlns:a16="http://schemas.microsoft.com/office/drawing/2014/main" id="{DC4AB534-27CB-496E-42AC-4FC302A2C00B}"/>
              </a:ext>
            </a:extLst>
          </p:cNvPr>
          <p:cNvSpPr txBox="1">
            <a:spLocks/>
          </p:cNvSpPr>
          <p:nvPr/>
        </p:nvSpPr>
        <p:spPr>
          <a:xfrm>
            <a:off x="133736" y="964413"/>
            <a:ext cx="11421046" cy="908244"/>
          </a:xfrm>
        </p:spPr>
        <p:txBody>
          <a:bodyPr>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1440" dirty="0">
                <a:solidFill>
                  <a:srgbClr val="FF0000"/>
                </a:solidFill>
                <a:latin typeface="Times New Roman" panose="02020603050405020304" pitchFamily="18" charset="0"/>
                <a:cs typeface="Times New Roman" panose="02020603050405020304" pitchFamily="18" charset="0"/>
              </a:rPr>
              <a:t>  </a:t>
            </a:r>
            <a:r>
              <a:rPr lang="en-GB" sz="1680" b="1" dirty="0">
                <a:solidFill>
                  <a:srgbClr val="FF0000"/>
                </a:solidFill>
                <a:latin typeface="Times New Roman" panose="02020603050405020304" pitchFamily="18" charset="0"/>
                <a:cs typeface="Times New Roman" panose="02020603050405020304" pitchFamily="18" charset="0"/>
              </a:rPr>
              <a:t>BACHELOR OF TECHNOLOGY  IN</a:t>
            </a:r>
            <a:br>
              <a:rPr lang="en-GB" sz="1680" b="1" dirty="0">
                <a:solidFill>
                  <a:srgbClr val="FF0000"/>
                </a:solidFill>
                <a:latin typeface="Times New Roman" panose="02020603050405020304" pitchFamily="18" charset="0"/>
                <a:cs typeface="Times New Roman" panose="02020603050405020304" pitchFamily="18" charset="0"/>
              </a:rPr>
            </a:br>
            <a:r>
              <a:rPr lang="en-GB" sz="1680" b="1" dirty="0">
                <a:solidFill>
                  <a:srgbClr val="FF0000"/>
                </a:solidFill>
                <a:latin typeface="Times New Roman" panose="02020603050405020304" pitchFamily="18" charset="0"/>
                <a:cs typeface="Times New Roman" panose="02020603050405020304" pitchFamily="18" charset="0"/>
              </a:rPr>
              <a:t>  DEPARTMENT OF ARTIFICIAL INTELLIGENCE AND</a:t>
            </a:r>
            <a:r>
              <a:rPr lang="en-GB" sz="1600" b="1" dirty="0">
                <a:latin typeface="Instrument Sans Medium" panose="020B0604020202020204" charset="0"/>
                <a:cs typeface="Times New Roman" panose="02020603050405020304" pitchFamily="18" charset="0"/>
              </a:rPr>
              <a:t> </a:t>
            </a:r>
            <a:r>
              <a:rPr lang="en-GB" sz="1600" b="1" dirty="0">
                <a:solidFill>
                  <a:srgbClr val="FF0000"/>
                </a:solidFill>
                <a:latin typeface="Times New Roman" panose="02020603050405020304" pitchFamily="18" charset="0"/>
                <a:cs typeface="Times New Roman" panose="02020603050405020304" pitchFamily="18" charset="0"/>
              </a:rPr>
              <a:t>MACHINE LEARNING</a:t>
            </a:r>
          </a:p>
          <a:p>
            <a:pPr marL="0" indent="0" algn="ctr">
              <a:buNone/>
            </a:pPr>
            <a:r>
              <a:rPr lang="en-GB" sz="1900" b="1" dirty="0">
                <a:solidFill>
                  <a:srgbClr val="FF0000"/>
                </a:solidFill>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ea typeface="Instrument Sans Medium" pitchFamily="34" charset="-122"/>
                <a:cs typeface="Times New Roman" panose="02020603050405020304" pitchFamily="18" charset="0"/>
              </a:rPr>
              <a:t>Academic Year: </a:t>
            </a:r>
            <a:r>
              <a:rPr lang="en-US" sz="1900" b="1" dirty="0">
                <a:latin typeface="Times New Roman" panose="02020603050405020304" pitchFamily="18" charset="0"/>
                <a:ea typeface="Instrument Sans Medium" pitchFamily="34" charset="-122"/>
                <a:cs typeface="Times New Roman" panose="02020603050405020304" pitchFamily="18" charset="0"/>
              </a:rPr>
              <a:t>2025-2026 </a:t>
            </a:r>
          </a:p>
          <a:p>
            <a:pPr marL="0" indent="0" algn="ctr">
              <a:buNone/>
            </a:pPr>
            <a:r>
              <a:rPr lang="en-US" sz="1900" dirty="0">
                <a:latin typeface="Times New Roman" panose="02020603050405020304" pitchFamily="18" charset="0"/>
                <a:ea typeface="Instrument Sans Medium" pitchFamily="34" charset="-122"/>
                <a:cs typeface="Times New Roman" panose="02020603050405020304" pitchFamily="18" charset="0"/>
              </a:rPr>
              <a:t>Developed by: </a:t>
            </a:r>
            <a:r>
              <a:rPr lang="en-US" sz="1900" b="1" dirty="0">
                <a:latin typeface="Times New Roman" panose="02020603050405020304" pitchFamily="18" charset="0"/>
                <a:ea typeface="Instrument Sans Medium" pitchFamily="34" charset="-122"/>
                <a:cs typeface="Times New Roman" panose="02020603050405020304" pitchFamily="18" charset="0"/>
              </a:rPr>
              <a:t>Batch 10</a:t>
            </a:r>
            <a:endParaRPr lang="en-US" sz="1900" dirty="0">
              <a:latin typeface="Times New Roman" panose="02020603050405020304" pitchFamily="18" charset="0"/>
              <a:cs typeface="Times New Roman" panose="02020603050405020304" pitchFamily="18" charset="0"/>
            </a:endParaRPr>
          </a:p>
          <a:p>
            <a:pPr marL="0" indent="0">
              <a:buNone/>
            </a:pPr>
            <a:endParaRPr lang="en-US" sz="1600" b="1" dirty="0">
              <a:latin typeface="Instrument Sans Medium" pitchFamily="34" charset="0"/>
              <a:ea typeface="Instrument Sans Medium" pitchFamily="34" charset="-122"/>
              <a:cs typeface="Instrument Sans Medium" pitchFamily="34" charset="-120"/>
            </a:endParaRPr>
          </a:p>
          <a:p>
            <a:pPr marL="0" indent="0">
              <a:buNone/>
            </a:pPr>
            <a:endParaRPr lang="en-GB" sz="16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GB" sz="16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GB" sz="16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GB" sz="16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168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IN" sz="84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809B34B-F109-4643-75B3-1350D1CA9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31745" y="1917525"/>
            <a:ext cx="2287869" cy="1849109"/>
          </a:xfrm>
          <a:prstGeom prst="rect">
            <a:avLst/>
          </a:prstGeom>
        </p:spPr>
      </p:pic>
      <p:sp>
        <p:nvSpPr>
          <p:cNvPr id="26" name="TextBox 25">
            <a:extLst>
              <a:ext uri="{FF2B5EF4-FFF2-40B4-BE49-F238E27FC236}">
                <a16:creationId xmlns:a16="http://schemas.microsoft.com/office/drawing/2014/main" id="{8632DB96-0194-3E42-41C1-6C955E76E639}"/>
              </a:ext>
            </a:extLst>
          </p:cNvPr>
          <p:cNvSpPr txBox="1"/>
          <p:nvPr/>
        </p:nvSpPr>
        <p:spPr>
          <a:xfrm>
            <a:off x="2643882" y="4049106"/>
            <a:ext cx="6714712" cy="1588127"/>
          </a:xfrm>
          <a:prstGeom prst="rect">
            <a:avLst/>
          </a:prstGeom>
          <a:noFill/>
        </p:spPr>
        <p:txBody>
          <a:bodyPr wrap="square" lIns="91440" tIns="45720" rIns="91440" bIns="45720" anchor="t">
            <a:spAutoFit/>
          </a:bodyPr>
          <a:lstStyle/>
          <a:p>
            <a:pPr marL="360045" lvl="1" algn="ctr"/>
            <a:r>
              <a:rPr lang="en-GB" sz="1920" b="1" dirty="0">
                <a:solidFill>
                  <a:schemeClr val="tx2"/>
                </a:solidFill>
                <a:latin typeface="Times New Roman" panose="02020603050405020304" pitchFamily="18" charset="0"/>
                <a:cs typeface="Times New Roman" panose="02020603050405020304" pitchFamily="18" charset="0"/>
              </a:rPr>
              <a:t>Under the esteemed guidance of</a:t>
            </a:r>
            <a:endParaRPr lang="en-US"/>
          </a:p>
          <a:p>
            <a:pPr marL="360045" lvl="1" algn="ctr"/>
            <a:r>
              <a:rPr lang="en-US" b="1" dirty="0">
                <a:latin typeface="Times New Roman"/>
                <a:ea typeface="Instrument Sans Medium"/>
                <a:cs typeface="Times New Roman"/>
              </a:rPr>
              <a:t>G. Lakshmi, </a:t>
            </a:r>
            <a:r>
              <a:rPr lang="en-US" b="1" dirty="0" err="1">
                <a:latin typeface="Times New Roman"/>
                <a:ea typeface="Instrument Sans Medium"/>
                <a:cs typeface="Times New Roman"/>
              </a:rPr>
              <a:t>M.Tech</a:t>
            </a:r>
            <a:br>
              <a:rPr lang="en-IN" sz="1900" dirty="0">
                <a:latin typeface="Times New Roman" panose="02020603050405020304" pitchFamily="18" charset="0"/>
                <a:cs typeface="Times New Roman" panose="02020603050405020304" pitchFamily="18" charset="0"/>
              </a:rPr>
            </a:br>
            <a:r>
              <a:rPr lang="en-IN" sz="1900" dirty="0">
                <a:latin typeface="Times New Roman"/>
                <a:cs typeface="Times New Roman"/>
              </a:rPr>
              <a:t>Assistant Professor – Dept of CSE Allied-AIML</a:t>
            </a:r>
          </a:p>
          <a:p>
            <a:pPr marL="360045" lvl="1" algn="ctr"/>
            <a:endParaRPr lang="en-GB" sz="1920" b="1" dirty="0">
              <a:solidFill>
                <a:schemeClr val="tx2"/>
              </a:solidFill>
              <a:latin typeface="Times New Roman" panose="02020603050405020304" pitchFamily="18" charset="0"/>
              <a:cs typeface="Times New Roman" panose="02020603050405020304" pitchFamily="18" charset="0"/>
            </a:endParaRPr>
          </a:p>
          <a:p>
            <a:pPr marL="360045" lvl="1" algn="ctr"/>
            <a:r>
              <a:rPr lang="en-GB" sz="2160" b="1" dirty="0">
                <a:solidFill>
                  <a:schemeClr val="tx2"/>
                </a:solidFill>
                <a:latin typeface="Times New Roman" panose="02020603050405020304" pitchFamily="18" charset="0"/>
                <a:cs typeface="Times New Roman" panose="02020603050405020304" pitchFamily="18" charset="0"/>
              </a:rPr>
              <a:t>     </a:t>
            </a:r>
          </a:p>
        </p:txBody>
      </p:sp>
      <p:sp>
        <p:nvSpPr>
          <p:cNvPr id="27" name="TextBox 26">
            <a:extLst>
              <a:ext uri="{FF2B5EF4-FFF2-40B4-BE49-F238E27FC236}">
                <a16:creationId xmlns:a16="http://schemas.microsoft.com/office/drawing/2014/main" id="{A6272C53-8C1E-7020-0926-EF7FDAA02428}"/>
              </a:ext>
            </a:extLst>
          </p:cNvPr>
          <p:cNvSpPr txBox="1"/>
          <p:nvPr/>
        </p:nvSpPr>
        <p:spPr>
          <a:xfrm>
            <a:off x="4819" y="5228566"/>
            <a:ext cx="12477317" cy="2780749"/>
          </a:xfrm>
          <a:prstGeom prst="rect">
            <a:avLst/>
          </a:prstGeom>
          <a:noFill/>
        </p:spPr>
        <p:txBody>
          <a:bodyPr wrap="square">
            <a:spAutoFit/>
          </a:bodyPr>
          <a:lstStyle/>
          <a:p>
            <a:pPr algn="ctr"/>
            <a:r>
              <a:rPr lang="en-US" sz="1920" b="1" dirty="0">
                <a:latin typeface="Times New Roman" panose="02020603050405020304" pitchFamily="18" charset="0"/>
                <a:cs typeface="Times New Roman" panose="02020603050405020304" pitchFamily="18" charset="0"/>
              </a:rPr>
              <a:t>BONAM VENKATA CHALAMAYYA ENGINEERING COLLEGE</a:t>
            </a:r>
            <a:endParaRPr lang="en-IN" sz="1920" b="1" dirty="0">
              <a:latin typeface="Times New Roman" panose="02020603050405020304" pitchFamily="18" charset="0"/>
              <a:cs typeface="Times New Roman" panose="02020603050405020304" pitchFamily="18" charset="0"/>
            </a:endParaRPr>
          </a:p>
          <a:p>
            <a:pPr algn="ctr"/>
            <a:r>
              <a:rPr lang="en-GB" sz="1920" b="1" dirty="0">
                <a:latin typeface="Times New Roman" panose="02020603050405020304" pitchFamily="18" charset="0"/>
                <a:cs typeface="Times New Roman" panose="02020603050405020304" pitchFamily="18" charset="0"/>
              </a:rPr>
              <a:t>(AUTONOMOUS)</a:t>
            </a:r>
          </a:p>
          <a:p>
            <a:pPr algn="ctr"/>
            <a:r>
              <a:rPr lang="en-GB" sz="1920" b="1" dirty="0">
                <a:latin typeface="Times New Roman" panose="02020603050405020304" pitchFamily="18" charset="0"/>
                <a:cs typeface="Times New Roman" panose="02020603050405020304" pitchFamily="18" charset="0"/>
              </a:rPr>
              <a:t>(Approved by AICTE, New Delhi, Permanently affiliated to JNTUK, Kakinada) (An ISO 9001:2015 Certified Institute, Accredited by NBA and NAAC with ‘A’  Grade)</a:t>
            </a:r>
          </a:p>
          <a:p>
            <a:pPr algn="ctr"/>
            <a:r>
              <a:rPr lang="en-GB" sz="1920" b="1" dirty="0">
                <a:latin typeface="Times New Roman" panose="02020603050405020304" pitchFamily="18" charset="0"/>
                <a:cs typeface="Times New Roman" panose="02020603050405020304" pitchFamily="18" charset="0"/>
              </a:rPr>
              <a:t>ODALAREVU - 533210</a:t>
            </a:r>
          </a:p>
        </p:txBody>
      </p:sp>
      <p:sp>
        <p:nvSpPr>
          <p:cNvPr id="28" name="TextBox 27">
            <a:extLst>
              <a:ext uri="{FF2B5EF4-FFF2-40B4-BE49-F238E27FC236}">
                <a16:creationId xmlns:a16="http://schemas.microsoft.com/office/drawing/2014/main" id="{24FCBAF2-18EA-14BE-4DB9-0119880DB2EB}"/>
              </a:ext>
            </a:extLst>
          </p:cNvPr>
          <p:cNvSpPr txBox="1"/>
          <p:nvPr/>
        </p:nvSpPr>
        <p:spPr>
          <a:xfrm>
            <a:off x="-401812" y="2003688"/>
            <a:ext cx="4176744" cy="424732"/>
          </a:xfrm>
          <a:prstGeom prst="rect">
            <a:avLst/>
          </a:prstGeom>
          <a:noFill/>
        </p:spPr>
        <p:txBody>
          <a:bodyPr wrap="square">
            <a:spAutoFit/>
          </a:bodyPr>
          <a:lstStyle/>
          <a:p>
            <a:r>
              <a:rPr lang="en-GB" sz="2160" dirty="0">
                <a:latin typeface="Times New Roman" panose="02020603050405020304" pitchFamily="18" charset="0"/>
                <a:cs typeface="Times New Roman" panose="02020603050405020304" pitchFamily="18" charset="0"/>
              </a:rPr>
              <a:t> </a:t>
            </a:r>
            <a:endParaRPr lang="en-GB" sz="168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22096C81-13CE-04B6-E59A-59FA6FD1A257}"/>
              </a:ext>
            </a:extLst>
          </p:cNvPr>
          <p:cNvSpPr txBox="1"/>
          <p:nvPr/>
        </p:nvSpPr>
        <p:spPr>
          <a:xfrm>
            <a:off x="8052901" y="1768534"/>
            <a:ext cx="4429235" cy="1168525"/>
          </a:xfrm>
          <a:prstGeom prst="rect">
            <a:avLst/>
          </a:prstGeom>
          <a:noFill/>
        </p:spPr>
        <p:txBody>
          <a:bodyPr wrap="square">
            <a:spAutoFit/>
          </a:bodyPr>
          <a:lstStyle/>
          <a:p>
            <a:pPr>
              <a:lnSpc>
                <a:spcPts val="2850"/>
              </a:lnSpc>
            </a:pPr>
            <a:r>
              <a:rPr lang="en-US" b="1" dirty="0">
                <a:latin typeface="Times New Roman" panose="02020603050405020304" pitchFamily="18" charset="0"/>
                <a:cs typeface="Times New Roman" panose="02020603050405020304" pitchFamily="18" charset="0"/>
              </a:rPr>
              <a:t> P. M.S.Seshagiri           -22221A6146</a:t>
            </a:r>
          </a:p>
          <a:p>
            <a:pPr>
              <a:lnSpc>
                <a:spcPts val="2850"/>
              </a:lnSpc>
            </a:pPr>
            <a:r>
              <a:rPr lang="en-US" b="1" dirty="0">
                <a:latin typeface="Times New Roman" panose="02020603050405020304" pitchFamily="18" charset="0"/>
                <a:cs typeface="Times New Roman" panose="02020603050405020304" pitchFamily="18" charset="0"/>
              </a:rPr>
              <a:t> </a:t>
            </a:r>
            <a:r>
              <a:rPr lang="fi-FI" b="1" dirty="0">
                <a:latin typeface="Times New Roman" panose="02020603050405020304" pitchFamily="18" charset="0"/>
                <a:cs typeface="Times New Roman" panose="02020603050405020304" pitchFamily="18" charset="0"/>
              </a:rPr>
              <a:t>K. Jagan satya sai        -23225A6103</a:t>
            </a:r>
            <a:endParaRPr lang="en-US" b="1" dirty="0">
              <a:latin typeface="Times New Roman" panose="02020603050405020304" pitchFamily="18" charset="0"/>
              <a:cs typeface="Times New Roman" panose="02020603050405020304" pitchFamily="18" charset="0"/>
            </a:endParaRPr>
          </a:p>
          <a:p>
            <a:pPr algn="ctr"/>
            <a:endParaRPr lang="en-GB" sz="216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E277907B-F2BC-7E3E-AF08-5FA342AB125A}"/>
              </a:ext>
            </a:extLst>
          </p:cNvPr>
          <p:cNvSpPr txBox="1"/>
          <p:nvPr/>
        </p:nvSpPr>
        <p:spPr>
          <a:xfrm>
            <a:off x="231140" y="1773045"/>
            <a:ext cx="4429236" cy="1169166"/>
          </a:xfrm>
          <a:prstGeom prst="rect">
            <a:avLst/>
          </a:prstGeom>
          <a:noFill/>
        </p:spPr>
        <p:txBody>
          <a:bodyPr wrap="square" lIns="91440" tIns="45720" rIns="91440" bIns="45720" anchor="t">
            <a:spAutoFit/>
          </a:bodyPr>
          <a:lstStyle/>
          <a:p>
            <a:pPr algn="just">
              <a:lnSpc>
                <a:spcPts val="2850"/>
              </a:lnSpc>
            </a:pPr>
            <a:r>
              <a:rPr lang="en-US" b="1" dirty="0">
                <a:latin typeface="Times New Roman" panose="02020603050405020304" pitchFamily="18" charset="0"/>
                <a:cs typeface="Times New Roman" panose="02020603050405020304" pitchFamily="18" charset="0"/>
              </a:rPr>
              <a:t>V. V.P.S Sahithi                  -22221 A6155</a:t>
            </a:r>
          </a:p>
          <a:p>
            <a:pPr algn="just">
              <a:lnSpc>
                <a:spcPts val="2850"/>
              </a:lnSpc>
            </a:pPr>
            <a:r>
              <a:rPr lang="en-US" b="1" dirty="0" err="1">
                <a:latin typeface="Times New Roman"/>
                <a:cs typeface="Times New Roman"/>
              </a:rPr>
              <a:t>K.Yaswanth</a:t>
            </a:r>
            <a:r>
              <a:rPr lang="en-US" b="1" dirty="0">
                <a:latin typeface="Times New Roman"/>
                <a:cs typeface="Times New Roman"/>
              </a:rPr>
              <a:t> </a:t>
            </a:r>
            <a:r>
              <a:rPr lang="en-US" b="1" dirty="0" err="1">
                <a:latin typeface="Times New Roman"/>
                <a:cs typeface="Times New Roman"/>
              </a:rPr>
              <a:t>durgendra</a:t>
            </a:r>
            <a:r>
              <a:rPr lang="en-US" b="1" dirty="0">
                <a:latin typeface="Times New Roman"/>
                <a:cs typeface="Times New Roman"/>
              </a:rPr>
              <a:t>  -22221A6123</a:t>
            </a:r>
          </a:p>
          <a:p>
            <a:pPr algn="just">
              <a:lnSpc>
                <a:spcPts val="2850"/>
              </a:lnSpc>
            </a:pPr>
            <a:endParaRPr lang="en-US" b="1" dirty="0">
              <a:latin typeface="Times New Roman" panose="02020603050405020304" pitchFamily="18" charset="0"/>
              <a:cs typeface="Times New Roman" panose="02020603050405020304" pitchFamily="18" charset="0"/>
            </a:endParaRPr>
          </a:p>
        </p:txBody>
      </p:sp>
      <p:pic>
        <p:nvPicPr>
          <p:cNvPr id="31" name="Picture 30">
            <a:extLst>
              <a:ext uri="{FF2B5EF4-FFF2-40B4-BE49-F238E27FC236}">
                <a16:creationId xmlns:a16="http://schemas.microsoft.com/office/drawing/2014/main" id="{6052BF25-2F9E-1A64-170D-3313C977694A}"/>
              </a:ext>
            </a:extLst>
          </p:cNvPr>
          <p:cNvPicPr>
            <a:picLocks noChangeAspect="1"/>
          </p:cNvPicPr>
          <p:nvPr/>
        </p:nvPicPr>
        <p:blipFill>
          <a:blip r:embed="rId3"/>
          <a:stretch>
            <a:fillRect/>
          </a:stretch>
        </p:blipFill>
        <p:spPr>
          <a:xfrm>
            <a:off x="10927493" y="7120847"/>
            <a:ext cx="2438095" cy="664567"/>
          </a:xfrm>
          <a:prstGeom prst="rect">
            <a:avLst/>
          </a:prstGeom>
        </p:spPr>
      </p:pic>
      <p:sp>
        <p:nvSpPr>
          <p:cNvPr id="32" name="Title 1">
            <a:extLst>
              <a:ext uri="{FF2B5EF4-FFF2-40B4-BE49-F238E27FC236}">
                <a16:creationId xmlns:a16="http://schemas.microsoft.com/office/drawing/2014/main" id="{A56CFD31-D1A0-2B8F-708F-D9F55A104FB3}"/>
              </a:ext>
            </a:extLst>
          </p:cNvPr>
          <p:cNvSpPr txBox="1">
            <a:spLocks/>
          </p:cNvSpPr>
          <p:nvPr/>
        </p:nvSpPr>
        <p:spPr>
          <a:xfrm>
            <a:off x="1087516" y="104171"/>
            <a:ext cx="9827444" cy="746257"/>
          </a:xfrm>
          <a:prstGeom prst="rect">
            <a:avLst/>
          </a:prstGeom>
          <a:solidFill>
            <a:schemeClr val="accent4">
              <a:lumMod val="20000"/>
              <a:lumOff val="80000"/>
              <a:alpha val="70000"/>
            </a:schemeClr>
          </a:solidFill>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50000"/>
              </a:lnSpc>
            </a:pPr>
            <a:r>
              <a:rPr lang="en-US" sz="2800" b="1" dirty="0">
                <a:latin typeface="Times New Roman" panose="02020603050405020304" pitchFamily="18" charset="0"/>
                <a:cs typeface="Times New Roman" panose="02020603050405020304" pitchFamily="18" charset="0"/>
              </a:rPr>
              <a:t>SERVICE REQUEST AND WORKFLOW AUTOMATION</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269" y="0"/>
            <a:ext cx="10580117" cy="1325563"/>
          </a:xfrm>
        </p:spPr>
        <p:txBody>
          <a:bodyPr>
            <a:normAutofit/>
          </a:bodyPr>
          <a:lstStyle/>
          <a:p>
            <a:r>
              <a:rPr lang="en-IN" sz="48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98270" y="1295267"/>
            <a:ext cx="10990968" cy="4935852"/>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The Service Request and Workflow Automation System is a web-based application developed to improve organizational efficiency by automating service request processes such as submission, approval, assignment, and resolution. The system enables users to raise service requests online and track their status in real time. By automating workflows, it reduces manual effort and operational delays while enhancing service quality. The application provides role-based interfaces for users, service staff, and administrators. Users can submit and monitor requests, while service staff manage assigned tasks efficiently. Administrators can configure workflows, monitor system performance, and generate reports. The system is built using modern full-stack technologies to ensure scalability, security, and reliability.</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843337" y="1295267"/>
            <a:ext cx="4505325" cy="426746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199" y="116378"/>
            <a:ext cx="10642601" cy="1167343"/>
          </a:xfrm>
        </p:spPr>
        <p:txBody>
          <a:bodyPr>
            <a:normAutofit/>
          </a:bodyPr>
          <a:lstStyle/>
          <a:p>
            <a:r>
              <a:rPr lang="en-IN" sz="48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711199" y="1283720"/>
            <a:ext cx="10797619" cy="5188199"/>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In the existing system, service requests are mostly handled using manual methods such as emails, phone calls, and paper forms. There is no centralized platform to register and manage all service requests. Users must repeatedly follow up to know the status of their requests. Approval processes are slow because they depend on manual communication. Delays are common when requests are forwarded to the wrong department. There is a high chance of requests being missed or forgotten. Maintaining records manually is time-consuming and inefficient. Data redundancy and inconsistency often occur. Communication gaps cause dissatisfaction among users. There is no real-time notification system for updates. Security of sensitive information is weak. Overall efficiency is low and operational costs are high. The existing system fails to meet modern organizational service management needs.</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702327" y="1612006"/>
            <a:ext cx="4505325" cy="42674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 y="0"/>
            <a:ext cx="5704840" cy="1385426"/>
          </a:xfrm>
        </p:spPr>
        <p:txBody>
          <a:bodyPr/>
          <a:lstStyle/>
          <a:p>
            <a:r>
              <a:rPr lang="en-IN" sz="4800" b="1" dirty="0">
                <a:latin typeface="Times New Roman" panose="02020603050405020304" pitchFamily="18" charset="0"/>
                <a:cs typeface="Times New Roman" panose="02020603050405020304" pitchFamily="18" charset="0"/>
              </a:rPr>
              <a:t>Proposed</a:t>
            </a:r>
            <a:r>
              <a:rPr lang="en-IN" b="1" dirty="0">
                <a:latin typeface="Times New Roman" panose="02020603050405020304" pitchFamily="18" charset="0"/>
                <a:cs typeface="Times New Roman" panose="02020603050405020304" pitchFamily="18" charset="0"/>
              </a:rPr>
              <a:t> System</a:t>
            </a:r>
          </a:p>
        </p:txBody>
      </p:sp>
      <p:sp>
        <p:nvSpPr>
          <p:cNvPr id="3" name="Content Placeholder 2"/>
          <p:cNvSpPr>
            <a:spLocks noGrp="1"/>
          </p:cNvSpPr>
          <p:nvPr>
            <p:ph idx="1"/>
          </p:nvPr>
        </p:nvSpPr>
        <p:spPr>
          <a:xfrm>
            <a:off x="518160" y="1385426"/>
            <a:ext cx="11135360" cy="4903613"/>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The proposed system provides a centralized and automated platform for managing service requests. Users can submit service requests through an online interface. Each request is automatically categorized and assigned to the appropriate department. Predefined workflows control the flow of tasks and approvals. The system reduces manual intervention and speeds up processing time. Automated notifications keep users informed about request status. Real-time tracking improves transparency and accountability. Approval processes become faster and more reliable. The system stores all request data in a secure database. Managers can monitor workload and performance easily. Reports and analytics help in decision-making. Error rates are reduced through automation. The system supports escalation of unresolved requests. Role-based access improves security. The platform is scalable to handle increased request volumes</a:t>
            </a:r>
            <a:endParaRPr lang="en-IN"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843336" y="1728900"/>
            <a:ext cx="4505325" cy="42674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721846" y="1174905"/>
            <a:ext cx="4505325" cy="4267466"/>
          </a:xfrm>
          <a:prstGeom prst="rect">
            <a:avLst/>
          </a:prstGeom>
        </p:spPr>
      </p:pic>
      <p:sp>
        <p:nvSpPr>
          <p:cNvPr id="5" name="Text 2">
            <a:extLst>
              <a:ext uri="{FF2B5EF4-FFF2-40B4-BE49-F238E27FC236}">
                <a16:creationId xmlns:a16="http://schemas.microsoft.com/office/drawing/2014/main" id="{514C9540-84CC-224A-BD84-74C29E57D423}"/>
              </a:ext>
            </a:extLst>
          </p:cNvPr>
          <p:cNvSpPr/>
          <p:nvPr/>
        </p:nvSpPr>
        <p:spPr>
          <a:xfrm>
            <a:off x="552987" y="471198"/>
            <a:ext cx="11322248" cy="492443"/>
          </a:xfrm>
          <a:prstGeom prst="rect">
            <a:avLst/>
          </a:prstGeom>
          <a:noFill/>
          <a:ln/>
        </p:spPr>
        <p:txBody>
          <a:bodyPr wrap="none" lIns="0" tIns="0" rIns="0" bIns="0" rtlCol="0" anchor="t"/>
          <a:lstStyle/>
          <a:p>
            <a:pPr marL="0" indent="0" algn="l">
              <a:lnSpc>
                <a:spcPts val="3850"/>
              </a:lnSpc>
              <a:buNone/>
            </a:pPr>
            <a:r>
              <a:rPr lang="en-US" sz="4800" b="1" dirty="0">
                <a:latin typeface="Times New Roman" panose="02020603050405020304" pitchFamily="18" charset="0"/>
                <a:ea typeface="Instrument Sans Semi Bold" pitchFamily="34" charset="-122"/>
                <a:cs typeface="Times New Roman" panose="02020603050405020304" pitchFamily="18" charset="0"/>
              </a:rPr>
              <a:t>Technology</a:t>
            </a:r>
            <a:r>
              <a:rPr lang="en-US" sz="2800" b="1" dirty="0">
                <a:latin typeface="Times New Roman" panose="02020603050405020304" pitchFamily="18" charset="0"/>
                <a:ea typeface="Instrument Sans Semi Bold" pitchFamily="34" charset="-122"/>
                <a:cs typeface="Times New Roman" panose="02020603050405020304" pitchFamily="18" charset="0"/>
              </a:rPr>
              <a:t> </a:t>
            </a:r>
            <a:r>
              <a:rPr lang="en-US" sz="4800" b="1" dirty="0">
                <a:latin typeface="Times New Roman" panose="02020603050405020304" pitchFamily="18" charset="0"/>
                <a:ea typeface="Instrument Sans Semi Bold" pitchFamily="34" charset="-122"/>
                <a:cs typeface="Times New Roman" panose="02020603050405020304" pitchFamily="18" charset="0"/>
              </a:rPr>
              <a:t>Stack</a:t>
            </a:r>
            <a:endParaRPr lang="en-US" sz="4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864F85D-0C85-C16D-1DEA-84BD9E5A303C}"/>
              </a:ext>
            </a:extLst>
          </p:cNvPr>
          <p:cNvSpPr txBox="1"/>
          <p:nvPr/>
        </p:nvSpPr>
        <p:spPr>
          <a:xfrm>
            <a:off x="917445" y="1174905"/>
            <a:ext cx="8603410" cy="2677656"/>
          </a:xfrm>
          <a:prstGeom prst="rect">
            <a:avLst/>
          </a:prstGeom>
          <a:noFill/>
        </p:spPr>
        <p:txBody>
          <a:bodyPr wrap="square" lIns="91440" tIns="45720" rIns="91440" bIns="45720" anchor="t">
            <a:spAutoFit/>
          </a:bodyPr>
          <a:lstStyle/>
          <a:p>
            <a:r>
              <a:rPr lang="en-IN" sz="2800" b="1" dirty="0">
                <a:latin typeface="Times New Roman"/>
                <a:cs typeface="Times New Roman"/>
              </a:rPr>
              <a:t>Frontend</a:t>
            </a:r>
            <a:r>
              <a:rPr lang="en-IN" sz="2800" dirty="0">
                <a:latin typeface="Times New Roman"/>
                <a:cs typeface="Times New Roman"/>
              </a:rPr>
              <a:t>: CSS, HTML, JavaScript</a:t>
            </a:r>
          </a:p>
          <a:p>
            <a:r>
              <a:rPr lang="en-IN" sz="2800" b="1" dirty="0">
                <a:latin typeface="Times New Roman" panose="02020603050405020304" pitchFamily="18" charset="0"/>
                <a:cs typeface="Times New Roman" panose="02020603050405020304" pitchFamily="18" charset="0"/>
              </a:rPr>
              <a:t>Backend</a:t>
            </a:r>
            <a:r>
              <a:rPr lang="en-IN" sz="2800" dirty="0">
                <a:latin typeface="Times New Roman" panose="02020603050405020304" pitchFamily="18" charset="0"/>
                <a:cs typeface="Times New Roman" panose="02020603050405020304" pitchFamily="18" charset="0"/>
              </a:rPr>
              <a:t>: Java (Spring Boot).</a:t>
            </a:r>
          </a:p>
          <a:p>
            <a:r>
              <a:rPr lang="en-IN" sz="2800" b="1" dirty="0">
                <a:latin typeface="Times New Roman" panose="02020603050405020304" pitchFamily="18" charset="0"/>
                <a:cs typeface="Times New Roman" panose="02020603050405020304" pitchFamily="18" charset="0"/>
              </a:rPr>
              <a:t>Database</a:t>
            </a:r>
            <a:r>
              <a:rPr lang="en-IN" sz="2800" dirty="0">
                <a:latin typeface="Times New Roman" panose="02020603050405020304" pitchFamily="18" charset="0"/>
                <a:cs typeface="Times New Roman" panose="02020603050405020304" pitchFamily="18" charset="0"/>
              </a:rPr>
              <a:t>: MySQL (Relational Database Management System)</a:t>
            </a:r>
          </a:p>
          <a:p>
            <a:r>
              <a:rPr lang="en-IN" sz="2800" b="1" dirty="0">
                <a:latin typeface="Times New Roman" panose="02020603050405020304" pitchFamily="18" charset="0"/>
                <a:cs typeface="Times New Roman" panose="02020603050405020304" pitchFamily="18" charset="0"/>
              </a:rPr>
              <a:t>Security</a:t>
            </a:r>
            <a:r>
              <a:rPr lang="en-IN" sz="2800" dirty="0">
                <a:latin typeface="Times New Roman" panose="02020603050405020304" pitchFamily="18" charset="0"/>
                <a:cs typeface="Times New Roman" panose="02020603050405020304" pitchFamily="18" charset="0"/>
              </a:rPr>
              <a:t>: JWT (JSON Web Tokens), Spring Security</a:t>
            </a:r>
          </a:p>
          <a:p>
            <a:r>
              <a:rPr lang="en-IN" sz="2800" b="1" dirty="0">
                <a:latin typeface="Times New Roman" panose="02020603050405020304" pitchFamily="18" charset="0"/>
                <a:cs typeface="Times New Roman" panose="02020603050405020304" pitchFamily="18" charset="0"/>
              </a:rPr>
              <a:t>Build</a:t>
            </a:r>
            <a:r>
              <a:rPr lang="en-IN" sz="2800" dirty="0">
                <a:latin typeface="Times New Roman" panose="02020603050405020304" pitchFamily="18" charset="0"/>
                <a:cs typeface="Times New Roman" panose="02020603050405020304" pitchFamily="18" charset="0"/>
              </a:rPr>
              <a:t> Tools: Maven (Backend), Vite/</a:t>
            </a:r>
            <a:r>
              <a:rPr lang="en-IN" sz="2800" dirty="0" err="1">
                <a:latin typeface="Times New Roman" panose="02020603050405020304" pitchFamily="18" charset="0"/>
                <a:cs typeface="Times New Roman" panose="02020603050405020304" pitchFamily="18" charset="0"/>
              </a:rPr>
              <a:t>npm</a:t>
            </a:r>
            <a:r>
              <a:rPr lang="en-IN" sz="2800" dirty="0">
                <a:latin typeface="Times New Roman" panose="02020603050405020304" pitchFamily="18" charset="0"/>
                <a:cs typeface="Times New Roman" panose="02020603050405020304" pitchFamily="18" charset="0"/>
              </a:rPr>
              <a:t> (Frontend)</a:t>
            </a:r>
          </a:p>
        </p:txBody>
      </p:sp>
      <p:sp>
        <p:nvSpPr>
          <p:cNvPr id="8" name="TextBox 7">
            <a:extLst>
              <a:ext uri="{FF2B5EF4-FFF2-40B4-BE49-F238E27FC236}">
                <a16:creationId xmlns:a16="http://schemas.microsoft.com/office/drawing/2014/main" id="{EC20B401-B593-B700-3532-D2E8E8AC744E}"/>
              </a:ext>
            </a:extLst>
          </p:cNvPr>
          <p:cNvSpPr txBox="1"/>
          <p:nvPr/>
        </p:nvSpPr>
        <p:spPr>
          <a:xfrm>
            <a:off x="917445" y="4749873"/>
            <a:ext cx="9540112" cy="1384995"/>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Hardware</a:t>
            </a:r>
            <a:r>
              <a:rPr lang="en-IN" sz="2800" dirty="0">
                <a:latin typeface="Times New Roman" panose="02020603050405020304" pitchFamily="18" charset="0"/>
                <a:cs typeface="Times New Roman" panose="02020603050405020304" pitchFamily="18" charset="0"/>
              </a:rPr>
              <a:t>: PC / Laptop (Minimum 8GB RAM, i5 Processor recommended)</a:t>
            </a:r>
          </a:p>
          <a:p>
            <a:r>
              <a:rPr lang="en-IN" sz="2800" b="1" dirty="0">
                <a:latin typeface="Times New Roman" panose="02020603050405020304" pitchFamily="18" charset="0"/>
                <a:cs typeface="Times New Roman" panose="02020603050405020304" pitchFamily="18" charset="0"/>
              </a:rPr>
              <a:t>Software</a:t>
            </a:r>
            <a:r>
              <a:rPr lang="en-IN" sz="2800" dirty="0">
                <a:latin typeface="Times New Roman" panose="02020603050405020304" pitchFamily="18" charset="0"/>
                <a:cs typeface="Times New Roman" panose="02020603050405020304" pitchFamily="18" charset="0"/>
              </a:rPr>
              <a:t>: Java JDK 17+, MySQL Workbench, VS Code.</a:t>
            </a:r>
          </a:p>
        </p:txBody>
      </p:sp>
      <p:sp>
        <p:nvSpPr>
          <p:cNvPr id="9" name="Text 2">
            <a:extLst>
              <a:ext uri="{FF2B5EF4-FFF2-40B4-BE49-F238E27FC236}">
                <a16:creationId xmlns:a16="http://schemas.microsoft.com/office/drawing/2014/main" id="{A5E80112-B008-4D4A-ECFB-E5119C6057FC}"/>
              </a:ext>
            </a:extLst>
          </p:cNvPr>
          <p:cNvSpPr/>
          <p:nvPr/>
        </p:nvSpPr>
        <p:spPr>
          <a:xfrm>
            <a:off x="552987" y="4063825"/>
            <a:ext cx="11322248" cy="492443"/>
          </a:xfrm>
          <a:prstGeom prst="rect">
            <a:avLst/>
          </a:prstGeom>
          <a:noFill/>
          <a:ln/>
        </p:spPr>
        <p:txBody>
          <a:bodyPr wrap="none" lIns="0" tIns="0" rIns="0" bIns="0" rtlCol="0" anchor="t"/>
          <a:lstStyle/>
          <a:p>
            <a:pPr marL="0" indent="0" algn="l">
              <a:lnSpc>
                <a:spcPts val="3850"/>
              </a:lnSpc>
              <a:buNone/>
            </a:pPr>
            <a:r>
              <a:rPr lang="en-US" sz="4800" b="1" dirty="0">
                <a:latin typeface="Times New Roman" panose="02020603050405020304" pitchFamily="18" charset="0"/>
                <a:cs typeface="Times New Roman" panose="02020603050405020304" pitchFamily="18" charset="0"/>
              </a:rPr>
              <a:t>System</a:t>
            </a:r>
            <a:r>
              <a:rPr lang="en-US" sz="4800" dirty="0">
                <a:latin typeface="Times New Roman" panose="02020603050405020304" pitchFamily="18" charset="0"/>
                <a:cs typeface="Times New Roman" panose="02020603050405020304" pitchFamily="18" charset="0"/>
              </a:rPr>
              <a:t> </a:t>
            </a:r>
            <a:r>
              <a:rPr lang="en-US" sz="4800" b="1" dirty="0">
                <a:latin typeface="Times New Roman" panose="02020603050405020304" pitchFamily="18" charset="0"/>
                <a:cs typeface="Times New Roman" panose="02020603050405020304" pitchFamily="18" charset="0"/>
              </a:rPr>
              <a:t>Requirements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system architecture&#10;&#10;AI-generated content may be incorrect.">
            <a:extLst>
              <a:ext uri="{FF2B5EF4-FFF2-40B4-BE49-F238E27FC236}">
                <a16:creationId xmlns:a16="http://schemas.microsoft.com/office/drawing/2014/main" id="{CF19D9D6-BB22-81B1-82C6-AEE2BDE1E51C}"/>
              </a:ext>
            </a:extLst>
          </p:cNvPr>
          <p:cNvPicPr>
            <a:picLocks noChangeAspect="1"/>
          </p:cNvPicPr>
          <p:nvPr/>
        </p:nvPicPr>
        <p:blipFill>
          <a:blip r:embed="rId2"/>
          <a:stretch>
            <a:fillRect/>
          </a:stretch>
        </p:blipFill>
        <p:spPr>
          <a:xfrm>
            <a:off x="24848" y="0"/>
            <a:ext cx="12164391" cy="6858000"/>
          </a:xfrm>
          <a:prstGeom prst="rect">
            <a:avLst/>
          </a:prstGeom>
        </p:spPr>
      </p:pic>
    </p:spTree>
    <p:extLst>
      <p:ext uri="{BB962C8B-B14F-4D97-AF65-F5344CB8AC3E}">
        <p14:creationId xmlns:p14="http://schemas.microsoft.com/office/powerpoint/2010/main" val="4142008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ogo on a black background&#10;&#10;AI-generated content may be incorrect.">
            <a:extLst>
              <a:ext uri="{FF2B5EF4-FFF2-40B4-BE49-F238E27FC236}">
                <a16:creationId xmlns:a16="http://schemas.microsoft.com/office/drawing/2014/main" id="{18DE171B-C7EF-56C5-20B1-1C5CC843DE4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721846" y="1174905"/>
            <a:ext cx="4505325" cy="4267466"/>
          </a:xfrm>
          <a:prstGeom prst="rect">
            <a:avLst/>
          </a:prstGeom>
        </p:spPr>
      </p:pic>
      <p:sp>
        <p:nvSpPr>
          <p:cNvPr id="7" name="TextBox 6">
            <a:extLst>
              <a:ext uri="{FF2B5EF4-FFF2-40B4-BE49-F238E27FC236}">
                <a16:creationId xmlns:a16="http://schemas.microsoft.com/office/drawing/2014/main" id="{CAE3E2BC-F3E8-CA31-407D-48CC6B832A19}"/>
              </a:ext>
            </a:extLst>
          </p:cNvPr>
          <p:cNvSpPr txBox="1"/>
          <p:nvPr/>
        </p:nvSpPr>
        <p:spPr>
          <a:xfrm>
            <a:off x="537882" y="907676"/>
            <a:ext cx="11788587" cy="65556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800" b="1" dirty="0">
              <a:latin typeface="Times New Roman"/>
              <a:cs typeface="Times New Roman"/>
            </a:endParaRPr>
          </a:p>
          <a:p>
            <a:pPr marL="228600" indent="-228600">
              <a:buFont typeface=""/>
              <a:buChar char="•"/>
            </a:pPr>
            <a:r>
              <a:rPr lang="en-US" sz="2800" b="1" dirty="0">
                <a:latin typeface="Times New Roman"/>
                <a:cs typeface="Times New Roman"/>
              </a:rPr>
              <a:t>Automate Service Request Processing:</a:t>
            </a:r>
            <a:br>
              <a:rPr lang="en-US" sz="2800" dirty="0">
                <a:latin typeface="Times New Roman"/>
              </a:rPr>
            </a:br>
            <a:r>
              <a:rPr lang="en-US" sz="2800" dirty="0">
                <a:latin typeface="Times New Roman"/>
                <a:cs typeface="Times New Roman"/>
              </a:rPr>
              <a:t>To fully automate the service request lifecycle, from request creation to approval, assignment, and resolution.</a:t>
            </a:r>
          </a:p>
          <a:p>
            <a:pPr marL="228600" indent="-228600">
              <a:buFont typeface=""/>
              <a:buChar char="•"/>
            </a:pPr>
            <a:r>
              <a:rPr lang="en-US" sz="2800" b="1" dirty="0">
                <a:latin typeface="Times New Roman"/>
                <a:cs typeface="Times New Roman"/>
              </a:rPr>
              <a:t>Reduce Manual Work &amp; Errors:</a:t>
            </a:r>
            <a:br>
              <a:rPr lang="en-US" sz="2800" dirty="0">
                <a:latin typeface="Times New Roman"/>
              </a:rPr>
            </a:br>
            <a:r>
              <a:rPr lang="en-US" sz="2800" dirty="0">
                <a:latin typeface="Times New Roman"/>
                <a:cs typeface="Times New Roman"/>
              </a:rPr>
              <a:t>To minimize manual intervention in service handling, thereby reducing human errors and improving accuracy.</a:t>
            </a:r>
          </a:p>
          <a:p>
            <a:pPr marL="228600" indent="-228600">
              <a:buFont typeface=""/>
              <a:buChar char="•"/>
            </a:pPr>
            <a:r>
              <a:rPr lang="en-US" sz="2800" b="1" dirty="0">
                <a:latin typeface="Times New Roman"/>
                <a:cs typeface="Times New Roman"/>
              </a:rPr>
              <a:t>Provide Secure Role-Based Access:</a:t>
            </a:r>
            <a:br>
              <a:rPr lang="en-US" sz="2800" dirty="0">
                <a:latin typeface="Times New Roman"/>
              </a:rPr>
            </a:br>
            <a:r>
              <a:rPr lang="en-US" sz="2800" dirty="0">
                <a:latin typeface="Times New Roman"/>
                <a:cs typeface="Times New Roman"/>
              </a:rPr>
              <a:t>To implement a secure system with role-based access for users, administrators, and technicians.</a:t>
            </a:r>
          </a:p>
          <a:p>
            <a:pPr marL="228600" indent="-228600">
              <a:buFont typeface=""/>
              <a:buChar char="•"/>
            </a:pPr>
            <a:r>
              <a:rPr lang="en-US" sz="2800" b="1" dirty="0">
                <a:latin typeface="Times New Roman"/>
                <a:cs typeface="Times New Roman"/>
              </a:rPr>
              <a:t>Ensure Faster &amp; Efficient Service Delivery:</a:t>
            </a:r>
            <a:br>
              <a:rPr lang="en-US" sz="2800" dirty="0">
                <a:latin typeface="Times New Roman"/>
              </a:rPr>
            </a:br>
            <a:r>
              <a:rPr lang="en-US" sz="2800" dirty="0">
                <a:latin typeface="Times New Roman"/>
                <a:cs typeface="Times New Roman"/>
              </a:rPr>
              <a:t>To provide timely service resolution through automated workflows and real-time status updates.</a:t>
            </a:r>
          </a:p>
          <a:p>
            <a:endParaRPr lang="en-US" sz="2800" b="1" dirty="0">
              <a:latin typeface="Times New Roman"/>
              <a:cs typeface="Times New Roman"/>
            </a:endParaRPr>
          </a:p>
          <a:p>
            <a:pPr algn="ctr"/>
            <a:endParaRPr lang="en-US" sz="2800" dirty="0">
              <a:latin typeface="Times New Roman"/>
              <a:cs typeface="Times New Roman"/>
            </a:endParaRPr>
          </a:p>
        </p:txBody>
      </p:sp>
      <p:sp>
        <p:nvSpPr>
          <p:cNvPr id="8" name="TextBox 7">
            <a:extLst>
              <a:ext uri="{FF2B5EF4-FFF2-40B4-BE49-F238E27FC236}">
                <a16:creationId xmlns:a16="http://schemas.microsoft.com/office/drawing/2014/main" id="{0857423D-97A3-AE86-6BF0-D8C56CC83930}"/>
              </a:ext>
            </a:extLst>
          </p:cNvPr>
          <p:cNvSpPr txBox="1"/>
          <p:nvPr/>
        </p:nvSpPr>
        <p:spPr>
          <a:xfrm>
            <a:off x="414618" y="291353"/>
            <a:ext cx="6028765"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latin typeface="Times New Roman"/>
                <a:ea typeface="Times New Roman"/>
                <a:cs typeface="Times New Roman"/>
              </a:rPr>
              <a:t>Objectives</a:t>
            </a:r>
            <a:r>
              <a:rPr sz="4800" b="1" dirty="0">
                <a:latin typeface="Times New Roman"/>
                <a:ea typeface="Times New Roman"/>
                <a:cs typeface="Times New Roman"/>
              </a:rPr>
              <a:t>​</a:t>
            </a:r>
            <a:endParaRPr lang="en-US" b="1" dirty="0"/>
          </a:p>
          <a:p>
            <a:pPr algn="ctr"/>
            <a:endParaRPr lang="en-US"/>
          </a:p>
        </p:txBody>
      </p:sp>
    </p:spTree>
    <p:extLst>
      <p:ext uri="{BB962C8B-B14F-4D97-AF65-F5344CB8AC3E}">
        <p14:creationId xmlns:p14="http://schemas.microsoft.com/office/powerpoint/2010/main" val="1176573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logo on a black background&#10;&#10;AI-generated content may be incorrect.">
            <a:extLst>
              <a:ext uri="{FF2B5EF4-FFF2-40B4-BE49-F238E27FC236}">
                <a16:creationId xmlns:a16="http://schemas.microsoft.com/office/drawing/2014/main" id="{F46226AF-A7AF-9AFB-0A06-35189A3E8D32}"/>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721846" y="1174905"/>
            <a:ext cx="4505325" cy="4267466"/>
          </a:xfrm>
          <a:prstGeom prst="rect">
            <a:avLst/>
          </a:prstGeom>
        </p:spPr>
      </p:pic>
      <p:sp>
        <p:nvSpPr>
          <p:cNvPr id="5" name="TextBox 4">
            <a:extLst>
              <a:ext uri="{FF2B5EF4-FFF2-40B4-BE49-F238E27FC236}">
                <a16:creationId xmlns:a16="http://schemas.microsoft.com/office/drawing/2014/main" id="{C4CDDB94-29A3-07C0-E556-DD7C3D182738}"/>
              </a:ext>
            </a:extLst>
          </p:cNvPr>
          <p:cNvSpPr txBox="1"/>
          <p:nvPr/>
        </p:nvSpPr>
        <p:spPr>
          <a:xfrm>
            <a:off x="381000" y="324971"/>
            <a:ext cx="60960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latin typeface="Times New Roman"/>
                <a:ea typeface="Segoe UI"/>
                <a:cs typeface="Segoe UI"/>
              </a:rPr>
              <a:t>Literature Review</a:t>
            </a:r>
            <a:r>
              <a:rPr lang="en-US" sz="4800" b="1" baseline="0" dirty="0">
                <a:latin typeface="Times New Roman"/>
                <a:ea typeface="Segoe UI"/>
                <a:cs typeface="Segoe UI"/>
              </a:rPr>
              <a:t>​</a:t>
            </a:r>
            <a:r>
              <a:rPr lang="en-US" sz="4800" dirty="0">
                <a:latin typeface="Times New Roman"/>
                <a:ea typeface="Segoe UI"/>
                <a:cs typeface="Segoe UI"/>
              </a:rPr>
              <a:t>​</a:t>
            </a:r>
          </a:p>
          <a:p>
            <a:pPr algn="ctr" rtl="0"/>
            <a:r>
              <a:rPr lang="en-US" sz="1800" dirty="0">
                <a:latin typeface="Calibri"/>
                <a:ea typeface="Segoe UI"/>
                <a:cs typeface="Segoe UI"/>
              </a:rPr>
              <a:t>​</a:t>
            </a:r>
          </a:p>
          <a:p>
            <a:pPr algn="ctr"/>
            <a:endParaRPr lang="en-US"/>
          </a:p>
        </p:txBody>
      </p:sp>
      <p:sp>
        <p:nvSpPr>
          <p:cNvPr id="6" name="TextBox 5">
            <a:extLst>
              <a:ext uri="{FF2B5EF4-FFF2-40B4-BE49-F238E27FC236}">
                <a16:creationId xmlns:a16="http://schemas.microsoft.com/office/drawing/2014/main" id="{CAFBFA9B-2D98-0697-256F-3394DD056ECF}"/>
              </a:ext>
            </a:extLst>
          </p:cNvPr>
          <p:cNvSpPr txBox="1"/>
          <p:nvPr/>
        </p:nvSpPr>
        <p:spPr>
          <a:xfrm>
            <a:off x="381000" y="1299883"/>
            <a:ext cx="11441205"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sz="2800" dirty="0">
                <a:latin typeface="Times New Roman"/>
                <a:cs typeface="Times New Roman"/>
              </a:rPr>
              <a:t>Traditional service request handling systems rely heavily on manual processes such as emails, phone calls, and paper records.</a:t>
            </a:r>
          </a:p>
          <a:p>
            <a:pPr marL="228600" indent="-228600">
              <a:buFont typeface=""/>
              <a:buChar char="•"/>
            </a:pPr>
            <a:r>
              <a:rPr lang="en-US" sz="2800" dirty="0">
                <a:latin typeface="Times New Roman"/>
                <a:cs typeface="Times New Roman"/>
              </a:rPr>
              <a:t>Manual service management leads to delays, lack of proper tracking, and higher chances of human errors.</a:t>
            </a:r>
          </a:p>
          <a:p>
            <a:pPr marL="228600" indent="-228600">
              <a:buFont typeface=""/>
              <a:buChar char="•"/>
            </a:pPr>
            <a:r>
              <a:rPr lang="en-US" sz="2800" dirty="0">
                <a:latin typeface="Times New Roman"/>
                <a:cs typeface="Times New Roman"/>
              </a:rPr>
              <a:t>Workflow automation systems help in streamlining request approval, assignment, and resolution processes.</a:t>
            </a:r>
          </a:p>
          <a:p>
            <a:pPr marL="228600" indent="-228600">
              <a:buFont typeface=""/>
              <a:buChar char="•"/>
            </a:pPr>
            <a:r>
              <a:rPr lang="en-US" sz="2800" dirty="0">
                <a:latin typeface="Times New Roman"/>
                <a:cs typeface="Times New Roman"/>
              </a:rPr>
              <a:t>Centralized databases improve data consistency, security, and efficient record management.</a:t>
            </a:r>
          </a:p>
          <a:p>
            <a:pPr marL="228600" indent="-228600">
              <a:buFont typeface=""/>
              <a:buChar char="•"/>
            </a:pPr>
            <a:r>
              <a:rPr lang="en-US" sz="2800" dirty="0">
                <a:latin typeface="Times New Roman"/>
                <a:cs typeface="Times New Roman"/>
              </a:rPr>
              <a:t>Web-based service management systems enable faster access, real-time tracking, and better decision-making.</a:t>
            </a:r>
          </a:p>
          <a:p>
            <a:pPr algn="ctr"/>
            <a:endParaRPr lang="en-US" sz="2800" dirty="0">
              <a:latin typeface="Times New Roman"/>
              <a:cs typeface="Times New Roman"/>
            </a:endParaRPr>
          </a:p>
        </p:txBody>
      </p:sp>
    </p:spTree>
    <p:extLst>
      <p:ext uri="{BB962C8B-B14F-4D97-AF65-F5344CB8AC3E}">
        <p14:creationId xmlns:p14="http://schemas.microsoft.com/office/powerpoint/2010/main" val="2218828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F7C9E7-6FBB-DDCF-89A8-5BA454D45C25}"/>
              </a:ext>
            </a:extLst>
          </p:cNvPr>
          <p:cNvPicPr>
            <a:picLocks noChangeAspect="1"/>
          </p:cNvPicPr>
          <p:nvPr/>
        </p:nvPicPr>
        <p:blipFill>
          <a:blip r:embed="rId2"/>
          <a:stretch>
            <a:fillRect/>
          </a:stretch>
        </p:blipFill>
        <p:spPr>
          <a:xfrm>
            <a:off x="349134" y="1158240"/>
            <a:ext cx="11720945" cy="5309062"/>
          </a:xfrm>
          <a:prstGeom prst="rect">
            <a:avLst/>
          </a:prstGeom>
        </p:spPr>
      </p:pic>
      <p:sp>
        <p:nvSpPr>
          <p:cNvPr id="6" name="TextBox 5">
            <a:extLst>
              <a:ext uri="{FF2B5EF4-FFF2-40B4-BE49-F238E27FC236}">
                <a16:creationId xmlns:a16="http://schemas.microsoft.com/office/drawing/2014/main" id="{0B8D10B2-DA01-E123-C87E-B8943BB5CFED}"/>
              </a:ext>
            </a:extLst>
          </p:cNvPr>
          <p:cNvSpPr txBox="1"/>
          <p:nvPr/>
        </p:nvSpPr>
        <p:spPr>
          <a:xfrm>
            <a:off x="349134" y="390698"/>
            <a:ext cx="6093228" cy="629916"/>
          </a:xfrm>
          <a:prstGeom prst="rect">
            <a:avLst/>
          </a:prstGeom>
          <a:noFill/>
        </p:spPr>
        <p:txBody>
          <a:bodyPr wrap="square">
            <a:spAutoFit/>
          </a:bodyPr>
          <a:lstStyle/>
          <a:p>
            <a:pPr marL="0" indent="0" algn="l">
              <a:lnSpc>
                <a:spcPts val="3850"/>
              </a:lnSpc>
              <a:buNone/>
            </a:pPr>
            <a:r>
              <a:rPr lang="en-US" sz="4800" b="1" dirty="0">
                <a:latin typeface="Times New Roman" panose="02020603050405020304" pitchFamily="18" charset="0"/>
                <a:cs typeface="Times New Roman" panose="02020603050405020304" pitchFamily="18" charset="0"/>
              </a:rPr>
              <a:t>User Login Page</a:t>
            </a:r>
          </a:p>
        </p:txBody>
      </p:sp>
    </p:spTree>
    <p:extLst>
      <p:ext uri="{BB962C8B-B14F-4D97-AF65-F5344CB8AC3E}">
        <p14:creationId xmlns:p14="http://schemas.microsoft.com/office/powerpoint/2010/main" val="396899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6774C-1457-5C02-9DD7-EC2E21F70AF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36232E-6782-D3D4-4A25-197157A1426D}"/>
              </a:ext>
            </a:extLst>
          </p:cNvPr>
          <p:cNvSpPr txBox="1"/>
          <p:nvPr/>
        </p:nvSpPr>
        <p:spPr>
          <a:xfrm>
            <a:off x="349134" y="390698"/>
            <a:ext cx="6093228" cy="629916"/>
          </a:xfrm>
          <a:prstGeom prst="rect">
            <a:avLst/>
          </a:prstGeom>
          <a:noFill/>
        </p:spPr>
        <p:txBody>
          <a:bodyPr wrap="square">
            <a:spAutoFit/>
          </a:bodyPr>
          <a:lstStyle/>
          <a:p>
            <a:pPr marL="0" indent="0" algn="l">
              <a:lnSpc>
                <a:spcPts val="3850"/>
              </a:lnSpc>
              <a:buNone/>
            </a:pPr>
            <a:r>
              <a:rPr lang="en-US" sz="4800" b="1" dirty="0">
                <a:latin typeface="Times New Roman" panose="02020603050405020304" pitchFamily="18" charset="0"/>
                <a:cs typeface="Times New Roman" panose="02020603050405020304" pitchFamily="18" charset="0"/>
              </a:rPr>
              <a:t>User Interface</a:t>
            </a:r>
          </a:p>
        </p:txBody>
      </p:sp>
      <p:pic>
        <p:nvPicPr>
          <p:cNvPr id="3" name="Picture 2">
            <a:extLst>
              <a:ext uri="{FF2B5EF4-FFF2-40B4-BE49-F238E27FC236}">
                <a16:creationId xmlns:a16="http://schemas.microsoft.com/office/drawing/2014/main" id="{8CBCAD42-F837-5C4D-9116-E31EDAB09E6D}"/>
              </a:ext>
            </a:extLst>
          </p:cNvPr>
          <p:cNvPicPr>
            <a:picLocks noChangeAspect="1"/>
          </p:cNvPicPr>
          <p:nvPr/>
        </p:nvPicPr>
        <p:blipFill>
          <a:blip r:embed="rId2"/>
          <a:stretch>
            <a:fillRect/>
          </a:stretch>
        </p:blipFill>
        <p:spPr>
          <a:xfrm>
            <a:off x="532015" y="1020614"/>
            <a:ext cx="11310851" cy="5593080"/>
          </a:xfrm>
          <a:prstGeom prst="rect">
            <a:avLst/>
          </a:prstGeom>
        </p:spPr>
      </p:pic>
    </p:spTree>
    <p:extLst>
      <p:ext uri="{BB962C8B-B14F-4D97-AF65-F5344CB8AC3E}">
        <p14:creationId xmlns:p14="http://schemas.microsoft.com/office/powerpoint/2010/main" val="3410623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94266-054A-B54A-5DB1-296FFE9DDE7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911ADF6-643B-C477-098F-FDBA2FC6DC69}"/>
              </a:ext>
            </a:extLst>
          </p:cNvPr>
          <p:cNvSpPr txBox="1"/>
          <p:nvPr/>
        </p:nvSpPr>
        <p:spPr>
          <a:xfrm>
            <a:off x="349134" y="390698"/>
            <a:ext cx="6093228" cy="629916"/>
          </a:xfrm>
          <a:prstGeom prst="rect">
            <a:avLst/>
          </a:prstGeom>
          <a:noFill/>
        </p:spPr>
        <p:txBody>
          <a:bodyPr wrap="square">
            <a:spAutoFit/>
          </a:bodyPr>
          <a:lstStyle/>
          <a:p>
            <a:pPr marL="0" indent="0" algn="l">
              <a:lnSpc>
                <a:spcPts val="3850"/>
              </a:lnSpc>
              <a:buNone/>
            </a:pPr>
            <a:r>
              <a:rPr lang="en-US" sz="4800" b="1" dirty="0">
                <a:latin typeface="Times New Roman" panose="02020603050405020304" pitchFamily="18" charset="0"/>
                <a:cs typeface="Times New Roman" panose="02020603050405020304" pitchFamily="18" charset="0"/>
              </a:rPr>
              <a:t>Request Page</a:t>
            </a:r>
          </a:p>
        </p:txBody>
      </p:sp>
      <p:pic>
        <p:nvPicPr>
          <p:cNvPr id="4" name="Picture 3">
            <a:extLst>
              <a:ext uri="{FF2B5EF4-FFF2-40B4-BE49-F238E27FC236}">
                <a16:creationId xmlns:a16="http://schemas.microsoft.com/office/drawing/2014/main" id="{F1286736-7CBA-9500-7568-5E569AC7F636}"/>
              </a:ext>
            </a:extLst>
          </p:cNvPr>
          <p:cNvPicPr>
            <a:picLocks noChangeAspect="1"/>
          </p:cNvPicPr>
          <p:nvPr/>
        </p:nvPicPr>
        <p:blipFill>
          <a:blip r:embed="rId2"/>
          <a:stretch>
            <a:fillRect/>
          </a:stretch>
        </p:blipFill>
        <p:spPr>
          <a:xfrm>
            <a:off x="411480" y="1219200"/>
            <a:ext cx="11292840" cy="5532120"/>
          </a:xfrm>
          <a:prstGeom prst="rect">
            <a:avLst/>
          </a:prstGeom>
        </p:spPr>
      </p:pic>
    </p:spTree>
    <p:extLst>
      <p:ext uri="{BB962C8B-B14F-4D97-AF65-F5344CB8AC3E}">
        <p14:creationId xmlns:p14="http://schemas.microsoft.com/office/powerpoint/2010/main" val="2021969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6A3D-07A8-1103-3484-72D67BE60E2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F227736-E7BF-9D61-9169-E6B708A90988}"/>
              </a:ext>
            </a:extLst>
          </p:cNvPr>
          <p:cNvSpPr txBox="1"/>
          <p:nvPr/>
        </p:nvSpPr>
        <p:spPr>
          <a:xfrm>
            <a:off x="349134" y="390698"/>
            <a:ext cx="6093228" cy="629916"/>
          </a:xfrm>
          <a:prstGeom prst="rect">
            <a:avLst/>
          </a:prstGeom>
          <a:noFill/>
        </p:spPr>
        <p:txBody>
          <a:bodyPr wrap="square">
            <a:spAutoFit/>
          </a:bodyPr>
          <a:lstStyle/>
          <a:p>
            <a:pPr marL="0" indent="0" algn="l">
              <a:lnSpc>
                <a:spcPts val="3850"/>
              </a:lnSpc>
              <a:buNone/>
            </a:pPr>
            <a:r>
              <a:rPr lang="en-US" sz="4800" b="1" dirty="0">
                <a:latin typeface="Times New Roman" panose="02020603050405020304" pitchFamily="18" charset="0"/>
                <a:cs typeface="Times New Roman" panose="02020603050405020304" pitchFamily="18" charset="0"/>
              </a:rPr>
              <a:t>Admin Dashboard</a:t>
            </a:r>
          </a:p>
        </p:txBody>
      </p:sp>
      <p:pic>
        <p:nvPicPr>
          <p:cNvPr id="9" name="Picture 8">
            <a:extLst>
              <a:ext uri="{FF2B5EF4-FFF2-40B4-BE49-F238E27FC236}">
                <a16:creationId xmlns:a16="http://schemas.microsoft.com/office/drawing/2014/main" id="{8F525388-99A1-16EF-CEF8-1DD0B6BA5173}"/>
              </a:ext>
            </a:extLst>
          </p:cNvPr>
          <p:cNvPicPr>
            <a:picLocks noChangeAspect="1"/>
          </p:cNvPicPr>
          <p:nvPr/>
        </p:nvPicPr>
        <p:blipFill>
          <a:blip r:embed="rId2"/>
          <a:stretch>
            <a:fillRect/>
          </a:stretch>
        </p:blipFill>
        <p:spPr>
          <a:xfrm>
            <a:off x="349134" y="1113693"/>
            <a:ext cx="11671070" cy="5519863"/>
          </a:xfrm>
          <a:prstGeom prst="rect">
            <a:avLst/>
          </a:prstGeom>
        </p:spPr>
      </p:pic>
    </p:spTree>
    <p:extLst>
      <p:ext uri="{BB962C8B-B14F-4D97-AF65-F5344CB8AC3E}">
        <p14:creationId xmlns:p14="http://schemas.microsoft.com/office/powerpoint/2010/main" val="1171803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E117-5F92-7EC4-3D7B-28EB6BE62D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ED3A88-6962-F303-A6AE-4B5ED3572736}"/>
              </a:ext>
            </a:extLst>
          </p:cNvPr>
          <p:cNvSpPr txBox="1"/>
          <p:nvPr/>
        </p:nvSpPr>
        <p:spPr>
          <a:xfrm>
            <a:off x="381000" y="324971"/>
            <a:ext cx="609600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dirty="0">
                <a:latin typeface="Times New Roman"/>
                <a:ea typeface="Segoe UI"/>
                <a:cs typeface="Segoe UI"/>
              </a:rPr>
              <a:t>Project code </a:t>
            </a:r>
          </a:p>
          <a:p>
            <a:pPr algn="ctr" rtl="0"/>
            <a:r>
              <a:rPr lang="en-US" sz="1800" dirty="0">
                <a:latin typeface="Calibri"/>
                <a:ea typeface="Segoe UI"/>
                <a:cs typeface="Segoe UI"/>
              </a:rPr>
              <a:t>​</a:t>
            </a:r>
          </a:p>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B966266B-1BC2-23A7-C7F8-85A4A78F4765}"/>
              </a:ext>
            </a:extLst>
          </p:cNvPr>
          <p:cNvPicPr>
            <a:picLocks noChangeAspect="1"/>
          </p:cNvPicPr>
          <p:nvPr/>
        </p:nvPicPr>
        <p:blipFill>
          <a:blip r:embed="rId2"/>
          <a:stretch>
            <a:fillRect/>
          </a:stretch>
        </p:blipFill>
        <p:spPr>
          <a:xfrm>
            <a:off x="22088" y="1122139"/>
            <a:ext cx="12180956" cy="5707026"/>
          </a:xfrm>
          <a:prstGeom prst="rect">
            <a:avLst/>
          </a:prstGeom>
        </p:spPr>
      </p:pic>
    </p:spTree>
    <p:extLst>
      <p:ext uri="{BB962C8B-B14F-4D97-AF65-F5344CB8AC3E}">
        <p14:creationId xmlns:p14="http://schemas.microsoft.com/office/powerpoint/2010/main" val="318800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66218"/>
            <a:ext cx="10515600" cy="1325563"/>
          </a:xfrm>
        </p:spPr>
        <p:txBody>
          <a:bodyPr>
            <a:noAutofit/>
          </a:bodyPr>
          <a:lstStyle/>
          <a:p>
            <a:pPr algn="ctr"/>
            <a:r>
              <a:rPr lang="en-IN" sz="9600" b="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TotalTime>
  <Words>637</Words>
  <Application>Microsoft Office PowerPoint</Application>
  <PresentationFormat>Widescreen</PresentationFormat>
  <Paragraphs>43</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Abstract</vt:lpstr>
      <vt:lpstr>Existing System</vt:lpstr>
      <vt:lpstr>Proposed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Charith Varma Vuyyuri(UST,IN)</dc:creator>
  <cp:lastModifiedBy>Uday Maharoju</cp:lastModifiedBy>
  <cp:revision>82</cp:revision>
  <dcterms:created xsi:type="dcterms:W3CDTF">2025-12-25T17:31:00Z</dcterms:created>
  <dcterms:modified xsi:type="dcterms:W3CDTF">2026-02-04T04:29:31Z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A6839E73D05D450AAA4B5B076D8686B7_12</vt:lpwstr>
  </property>
  <property fmtid="{D5CDD505-2E9C-101B-9397-08002B2CF9AE}" pid="3" name="KSOProductBuildVer">
    <vt:lpwstr>1033-12.2.0.23155</vt:lpwstr>
  </property>
</Properties>
</file>